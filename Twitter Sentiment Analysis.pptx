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6F77CB-749E-4547-9D61-D46D499F53D7}">
  <a:tblStyle styleId="{F06F77CB-749E-4547-9D61-D46D499F53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a4e15e8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a4e15e8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0a4e15e8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0a4e15e8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0a4e15e8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0a4e15e8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a4e15e8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a4e15e8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0a4e15e88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0a4e15e88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a4e15e8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0a4e15e8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a4e15e8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a4e15e8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0a4e15e8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0a4e15e8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0a4e15e88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0a4e15e88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a4e15e88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a4e15e8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0c4dbd7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0c4dbd7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0a4e15e8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0a4e15e8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0a4e15e88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0a4e15e88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0a4e15e88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0a4e15e8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0a4e15e88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0a4e15e8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0a4e15e8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0a4e15e8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0a4e15e8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0a4e15e8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0a4e15e8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0a4e15e8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mlarchive.com/wp-content/uploads/2024/02/New-Project-3-1-1024x607-1024x585-1-1024x585.png" TargetMode="External"/><Relationship Id="rId4" Type="http://schemas.openxmlformats.org/officeDocument/2006/relationships/hyperlink" Target="https://cdn.prod.website-files.com/5ef788f07804fb7d78a4127a/621dc2654b9a752d476c7cf1_Bag-of-Words-representation-of-the-sentence-It-is-the-best-of-the-best-where-every.jpg" TargetMode="External"/><Relationship Id="rId5" Type="http://schemas.openxmlformats.org/officeDocument/2006/relationships/hyperlink" Target="https://i.postimg.cc/pLvhy7zs/basicbow.png" TargetMode="External"/><Relationship Id="rId6" Type="http://schemas.openxmlformats.org/officeDocument/2006/relationships/hyperlink" Target="https://i.ytimg.com/vi/NEreO2zlXDk/maxresdefault.jpg" TargetMode="External"/><Relationship Id="rId7" Type="http://schemas.openxmlformats.org/officeDocument/2006/relationships/hyperlink" Target="https://cemirim.com.br/wp-content/uploads/2019/11/duvfreq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40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Classificação de Tweets com Machine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082400" y="3115825"/>
            <a:ext cx="474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Felipe Costa Saboia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João Pedro Bastasini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000" y="2693575"/>
            <a:ext cx="2959201" cy="16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 Proposta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Classificar Tweets 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Irrelevante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Negativo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Neutro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Positivo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Classificações levam como base: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Sentimento por trás do Tweet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Entidade para qual o Tweet está sendo direcionado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EX: “Eu vou bater em todos vocês” quando no contexto de um jogo de luta, é um tweet considerado positivo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 Diferencial - Bag of Words (</a:t>
            </a:r>
            <a:r>
              <a:rPr lang="pt-BR"/>
              <a:t>BoW)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7464300" cy="3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Tratamento de Texto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Faz transformação para uma representação </a:t>
            </a:r>
            <a:r>
              <a:rPr lang="pt-BR"/>
              <a:t>numérica</a:t>
            </a:r>
            <a:r>
              <a:rPr lang="pt-BR"/>
              <a:t> das palavras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</a:t>
            </a:r>
            <a:r>
              <a:rPr lang="pt-BR"/>
              <a:t>strutura gramatical e a ordem das palavras são ignoradas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Foca na presença/frequência dos termos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Como Funciona: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Identifica todas as palavras únicas em um corpus (conjunto de dados)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Transforma cada uma delas em uma coluna do vetor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Cada texto é uma linha da matriz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Valores da matriz podem ser: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Binários (apenas marca a presença da palavra, descartando a informação de frequência)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A quantidade de vezes que tal palavra aparece no texto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</a:t>
            </a:r>
            <a:r>
              <a:rPr lang="pt-BR"/>
              <a:t>.  Diferencial - Bag of Words (BoW)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00" y="1296337"/>
            <a:ext cx="4536000" cy="25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800" y="2881181"/>
            <a:ext cx="4342199" cy="19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</a:t>
            </a:r>
            <a:r>
              <a:rPr lang="pt-BR"/>
              <a:t>.  Diferencial - Bag of Words (BoW)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Vantagens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Mais fácil de entender a teoria e implementar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Rápido para grandes volumes de texto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Fácil de interpretar os vetores gerados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Desvantagens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Ignora a ordem das palavras (perde contexto)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Pode gerar vetores MUITO grandes (alta dimensionalidade)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Esparsidade, maior parte dos vetores são 0s (pouca informação em muito espaço)</a:t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00" y="1152475"/>
            <a:ext cx="3932175" cy="22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 Diferencial - Bag of Words (BoW)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Foi utilizado o IT-IDF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IT </a:t>
            </a:r>
            <a:r>
              <a:rPr lang="pt-BR"/>
              <a:t>(Term Frequency)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Palavras que aparecem várias vezes são mais relevantes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Considera palavras de UM documento (parte do corpus)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IDF (Inverse Document Frequency)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Palavras que aparecem várias vezes são menos relevantes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Considera TODOS os documentos (corpus inteiro)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Reduz relevância de palavras como o, do, a, 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Enquanto palavras que são comuns pela natureza da língua têm a relevância reduzida, palavras que são importantes para o contexto têm a relevância aumentada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 Diferencial - Embedding (</a:t>
            </a:r>
            <a:r>
              <a:rPr lang="pt-BR"/>
              <a:t>Palavra</a:t>
            </a:r>
            <a:r>
              <a:rPr lang="pt-BR"/>
              <a:t>)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979675"/>
            <a:ext cx="8717100" cy="23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Tenta capturar o significado/contexto semântico das palavras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Transforma cada palavra em um vetor de (relativamente) baixa dimensão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Faz com que palavras que sejam semelhantes fiquem perto umas das outras no espaço gerado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Normalmente os modelos de embeddings são gerados por redes neurais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significado de uma palavra é inferido por quais palavras a cercam, em todo o corpus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200" y="3029825"/>
            <a:ext cx="4006400" cy="20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 Diferencial - Embedding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45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Vantagens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Percebe significado e contexto das palavras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Vetores de baixa dimensionalidade (50 a 300, comparado com possíveis milhares da BoW)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Generalização de palavras novas, a partir do contexto (quando palavras semelhantes foram usadas no treinamento, ex: cachorro, cão, canino → totó)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Desvantagens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Mais poder computacional é </a:t>
            </a:r>
            <a:r>
              <a:rPr lang="pt-BR"/>
              <a:t>necessário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Precisa de um corpus muito grande, para treinamento do modelo de embedding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Difícil de interpretar o que cada vetor significa por si só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Pode cometer erros com palavras fora do vocabulário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 Diferencial - Embedding (Texto)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Média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Média </a:t>
            </a:r>
            <a:r>
              <a:rPr lang="pt-BR"/>
              <a:t>aritmética</a:t>
            </a:r>
            <a:r>
              <a:rPr lang="pt-BR"/>
              <a:t> dos vetores de cada palavra do texto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Gera um novo vetor, que representa o texto em si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Útil para classificar sentimentos, pois a ordem das palavras não importa tanto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Concatenação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Gera uma matriz com os vetores da palavra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Preserva a ordem das palavras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Essencial quando a ordem deve ser preservada (para Redes Neurais Recorrentes, por exemplo)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Foi utilizado o SBERT ou Sentence-BERT (Bidirectional Encoder Representations from Transformers)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3.  Dataset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6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Foi usado o dataset do Kaggle “Twitter Sentiment Analysis”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Poucos problemas com o dataset em si, não foi necessário </a:t>
            </a:r>
            <a:r>
              <a:rPr lang="pt-BR"/>
              <a:t>consertar</a:t>
            </a:r>
            <a:r>
              <a:rPr lang="pt-BR"/>
              <a:t> campos faltando,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Separação Treino, Validação e Teste para impedir overfitting/vazamento de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Emojis, menções, e outros dados que poderiam atrapalhar o modelo foram retirados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Para reduzir a dimensionalidade da matriz (BoW):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Normalização, tokenização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</a:t>
            </a:r>
            <a:r>
              <a:rPr lang="pt-BR"/>
              <a:t>temming (correr, corrida, corredor, correndo → corr)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Lemming (correndo, corri → correr)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4.  Informações Relevantes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Algoritmos</a:t>
            </a:r>
            <a:r>
              <a:rPr lang="pt-BR"/>
              <a:t> de classificação utilizados: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LogReg (Regressão Logística)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Usado em conjunto com Softmax (LogReg multinomial), não entraremos em detalhes pois daria uma apresentação à parte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SVM (Máquina de Vetores de Suporte)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Encontra o hiperplano que melhor separa as classes no espaço de dados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NB (Naive Bayes)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Calcula a probabilidade de que um ponto pertença a uma classe, dado o valor de suas features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13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 Resultados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439200" y="3096000"/>
            <a:ext cx="75381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À Primeira Vista: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Variação grande entre o melhor e o pior (&gt;30%)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BoW (mais simples) com melhor desempenho que Embedding (mais complexo)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Dados bem balanceados, indicados pela similaridade da acurácia e F1-Macro, comprovados pelos dados numéricos da Matriz de Confusão</a:t>
            </a:r>
            <a:endParaRPr/>
          </a:p>
        </p:txBody>
      </p:sp>
      <p:graphicFrame>
        <p:nvGraphicFramePr>
          <p:cNvPr id="126" name="Google Shape;126;p24"/>
          <p:cNvGraphicFramePr/>
          <p:nvPr/>
        </p:nvGraphicFramePr>
        <p:xfrm>
          <a:off x="1166813" y="1017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{F06F77CB-749E-4547-9D61-D46D499F53D7}</a:tableStyleId>
              </a:tblPr>
              <a:tblGrid>
                <a:gridCol w="952500"/>
                <a:gridCol w="952500"/>
                <a:gridCol w="952500"/>
                <a:gridCol w="39528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Modelo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Accuracy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F1-Macro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Matriz de Confusão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SVM (TF-IDF)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94.90%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94.77%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[[160, 4, 1, 7], [3, 255, 2, 6], [4, 7, 268, 6], [3, 5, 3, 266]]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NB (TF-IDF)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78.90%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77.65</a:t>
                      </a: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[[95, 38, 5, 34], [1, 247, 4, 14], [2, 49, 198, 36], [2, 17, 9, 249]]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LogReg (SBERT)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63.50%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62.61%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[[98, 22, 17, 35], [17, 197, 29, 23], [48, 40, 160, 37], [35, 25, 37, 180]]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SVM (SBERT)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62.80%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61.13%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[[78, 32, 23, 39], [11, 205, 28, 22], [34, 54, 152, 45], [22, 31, 31, 193]]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945125" y="784925"/>
            <a:ext cx="3253200" cy="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OBS: Ordem da Matriz de Confusão: irrelevante, negativo, neutro, positivo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 Resultados - SVM (SBERT)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246900" y="2442300"/>
            <a:ext cx="4497900" cy="25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Pior nos testes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Pior recall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pior recall em outros modelos foi 0.55, uma diferença de 10%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foi um modelo péssimo, mas “forçou” classificações quando o texto era simplesmente irrelevante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600" y="1017725"/>
            <a:ext cx="6664800" cy="129907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25"/>
          <p:cNvGraphicFramePr/>
          <p:nvPr/>
        </p:nvGraphicFramePr>
        <p:xfrm>
          <a:off x="5058300" y="244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{F06F77CB-749E-4547-9D61-D46D499F53D7}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Classe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Precision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Recall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F1-Score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Irrelevant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0.54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0.45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0.49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Negative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Neutral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0.53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0.59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Positive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25"/>
          <p:cNvSpPr txBox="1"/>
          <p:nvPr/>
        </p:nvSpPr>
        <p:spPr>
          <a:xfrm>
            <a:off x="5899950" y="3787200"/>
            <a:ext cx="21267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Acurácia: 62.80%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F1-Macro: 61.13%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 Resultados - SVM (SBERT)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2492400"/>
            <a:ext cx="4598700" cy="23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Desempenho mediano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Dificuldade de precisão com tweets irrelevantes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Acertou mais Irrelevantes, mas classificou mais como Irrelevantes (que não eram) também.</a:t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00" y="1017725"/>
            <a:ext cx="6629400" cy="1247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26"/>
          <p:cNvGraphicFramePr/>
          <p:nvPr/>
        </p:nvGraphicFramePr>
        <p:xfrm>
          <a:off x="5022300" y="249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{F06F77CB-749E-4547-9D61-D46D499F53D7}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Classe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Precision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Recall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F1-Score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Irrelevant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0.49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0.57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0.53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Negative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Neutral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0.56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Positive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26"/>
          <p:cNvSpPr txBox="1"/>
          <p:nvPr/>
        </p:nvSpPr>
        <p:spPr>
          <a:xfrm>
            <a:off x="5899950" y="3787200"/>
            <a:ext cx="21267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Acurácia: </a:t>
            </a:r>
            <a:r>
              <a:rPr lang="pt-BR" sz="1800">
                <a:solidFill>
                  <a:schemeClr val="lt2"/>
                </a:solidFill>
              </a:rPr>
              <a:t>63.50%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F1-Macro: </a:t>
            </a:r>
            <a:r>
              <a:rPr lang="pt-BR" sz="1800">
                <a:solidFill>
                  <a:schemeClr val="lt2"/>
                </a:solidFill>
              </a:rPr>
              <a:t>62.61</a:t>
            </a:r>
            <a:r>
              <a:rPr lang="pt-BR" sz="1800">
                <a:solidFill>
                  <a:schemeClr val="lt2"/>
                </a:solidFill>
              </a:rPr>
              <a:t>%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 Resultados - NB (TF-IDF)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2470800"/>
            <a:ext cx="4800300" cy="24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Salto significativo de desempenho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Recall ótimo para Negativo e Positivo, mas mediano para Neutro e Irrelevante, o que se inverte para a precisão, ou seja: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Muito bom para encontrar Positivos e Negativos, mas acaba “invadindo” os Irrelevantes e</a:t>
            </a:r>
            <a:r>
              <a:rPr lang="pt-BR"/>
              <a:t> Neutros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Quando diz que é Neutro/Irrelevante, raramente erra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1017725"/>
            <a:ext cx="6667500" cy="1323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Google Shape;153;p27"/>
          <p:cNvGraphicFramePr/>
          <p:nvPr/>
        </p:nvGraphicFramePr>
        <p:xfrm>
          <a:off x="5112000" y="247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{F06F77CB-749E-4547-9D61-D46D499F53D7}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Classe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Precision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Recall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F1-Score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Irrelevant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0.55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Negative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Neutral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0.69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Positive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0.75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0.82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27"/>
          <p:cNvSpPr txBox="1"/>
          <p:nvPr/>
        </p:nvSpPr>
        <p:spPr>
          <a:xfrm>
            <a:off x="5899950" y="3787200"/>
            <a:ext cx="21267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Acurácia: </a:t>
            </a:r>
            <a:r>
              <a:rPr lang="pt-BR" sz="1800">
                <a:solidFill>
                  <a:schemeClr val="lt2"/>
                </a:solidFill>
              </a:rPr>
              <a:t>78.90</a:t>
            </a:r>
            <a:r>
              <a:rPr lang="pt-BR" sz="1800">
                <a:solidFill>
                  <a:schemeClr val="lt2"/>
                </a:solidFill>
              </a:rPr>
              <a:t>%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F1-Macro: </a:t>
            </a:r>
            <a:r>
              <a:rPr lang="pt-BR" sz="1800">
                <a:solidFill>
                  <a:schemeClr val="lt2"/>
                </a:solidFill>
              </a:rPr>
              <a:t>77.65</a:t>
            </a:r>
            <a:r>
              <a:rPr lang="pt-BR" sz="1800">
                <a:solidFill>
                  <a:schemeClr val="lt2"/>
                </a:solidFill>
              </a:rPr>
              <a:t>%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 Resultados - NB (TF-IDF)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2426400"/>
            <a:ext cx="4656300" cy="25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Melhor desempenho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Precisão e Recall excelentes em todas as categorias, acurácia excepcional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Tendência mínima de errar mais classificando como Negativo/Positivo comparado com Irrelevant/Neutro</a:t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00" y="1017725"/>
            <a:ext cx="6629400" cy="1314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8"/>
          <p:cNvGraphicFramePr/>
          <p:nvPr/>
        </p:nvGraphicFramePr>
        <p:xfrm>
          <a:off x="5120400" y="249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{F06F77CB-749E-4547-9D61-D46D499F53D7}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Classe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Precision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Recall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F1-Score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Irrelevant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Negative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Neutral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Positive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0.95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28"/>
          <p:cNvSpPr txBox="1"/>
          <p:nvPr/>
        </p:nvSpPr>
        <p:spPr>
          <a:xfrm>
            <a:off x="5899950" y="3787200"/>
            <a:ext cx="21267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Acurácia: </a:t>
            </a:r>
            <a:r>
              <a:rPr lang="pt-BR" sz="1800">
                <a:solidFill>
                  <a:schemeClr val="lt2"/>
                </a:solidFill>
              </a:rPr>
              <a:t>94.90</a:t>
            </a:r>
            <a:r>
              <a:rPr lang="pt-BR" sz="1800">
                <a:solidFill>
                  <a:schemeClr val="lt2"/>
                </a:solidFill>
              </a:rPr>
              <a:t>%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2"/>
                </a:solidFill>
              </a:rPr>
              <a:t>F1-Macro: </a:t>
            </a:r>
            <a:r>
              <a:rPr lang="pt-BR" sz="1800">
                <a:solidFill>
                  <a:schemeClr val="lt2"/>
                </a:solidFill>
              </a:rPr>
              <a:t>94.77</a:t>
            </a:r>
            <a:r>
              <a:rPr lang="pt-BR" sz="1800">
                <a:solidFill>
                  <a:schemeClr val="lt2"/>
                </a:solidFill>
              </a:rPr>
              <a:t>%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5.  Resultados - Discussão 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7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Superando expectativas, o modelo mais simples de Bag of Words teve um resultado muito superior ao modelo mais complexo de Embeddings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Isso sinaliza que é provável que o conjunto de dados tenhas palavras-chave fortes, que carregam o sentimento do tweet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Indica que os dados possuem pouca ironia (onde Embeddings levariam vantagem)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Possível que o treinamento para o processo de criação de Embeddings em SBERT seja bem diferente do contexto de tweets, fazendo com que eles não se </a:t>
            </a:r>
            <a:r>
              <a:rPr lang="pt-BR"/>
              <a:t>adaptassem</a:t>
            </a:r>
            <a:r>
              <a:rPr lang="pt-BR"/>
              <a:t> bem à situação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Importante notar que os IT-IDF foram significativamente mais rápidos para o processamento de dados, finalizando muitos minutos antes dos modelos de Embeddings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AD1DC"/>
              </a:buClr>
              <a:buSzPts val="1800"/>
              <a:buChar char="●"/>
            </a:pPr>
            <a:r>
              <a:rPr lang="pt-BR">
                <a:solidFill>
                  <a:srgbClr val="EAD1DC"/>
                </a:solidFill>
              </a:rPr>
              <a:t>Ou seja, nem sempre o mais complexo é o melhor</a:t>
            </a:r>
            <a:r>
              <a:rPr lang="pt-BR">
                <a:solidFill>
                  <a:srgbClr val="EAD1DC"/>
                </a:solidFill>
              </a:rPr>
              <a:t>!!!</a:t>
            </a:r>
            <a:endParaRPr>
              <a:solidFill>
                <a:srgbClr val="EAD1D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Obrigado!! Dúvidas?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0" y="1148525"/>
            <a:ext cx="647700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Links das imagens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https://mlarchive.com/wp-content/uploads/2024/02/New-Project-3-1-1024x607-1024x585-1-1024x585.png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https://cdn.prod.website-files.com/5ef788f07804fb7d78a4127a/621dc2654b9a752d476c7cf1_Bag-of-Words-representation-of-the-sentence-It-is-the-best-of-the-best-where-every.jpg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5"/>
              </a:rPr>
              <a:t>https://i.postimg.cc/pLvhy7zs/basicbow.png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6"/>
              </a:rPr>
              <a:t>https://i.ytimg.com/vi/NEreO2zlXDk/maxresdefault.jpg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7"/>
              </a:rPr>
              <a:t>https://cemirim.com.br/wp-content/uploads/2019/11/duvfreq.jpg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